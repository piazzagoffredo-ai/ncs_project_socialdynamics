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61" r:id="rId5"/>
    <p:sldId id="268" r:id="rId6"/>
    <p:sldId id="262" r:id="rId7"/>
    <p:sldId id="265" r:id="rId8"/>
    <p:sldId id="259" r:id="rId9"/>
    <p:sldId id="264" r:id="rId10"/>
    <p:sldId id="257" r:id="rId11"/>
    <p:sldId id="263" r:id="rId12"/>
    <p:sldId id="269" r:id="rId13"/>
    <p:sldId id="270" r:id="rId14"/>
    <p:sldId id="266" r:id="rId15"/>
    <p:sldId id="271" r:id="rId16"/>
    <p:sldId id="256" r:id="rId17"/>
    <p:sldId id="258" r:id="rId18"/>
    <p:sldId id="260" r:id="rId19"/>
    <p:sldId id="267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5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F4DC94-39C2-22DA-BC86-DB03016B9C16}" v="35" dt="2026-01-07T16:21:19.321"/>
    <p1510:client id="{6CF987F3-762F-110B-F95D-7C8D81664D23}" v="6" dt="2026-01-07T17:09:42.838"/>
    <p1510:client id="{72056E26-CF71-9B35-368E-947A0FACCDFD}" v="702" dt="2026-01-07T18:11:39.816"/>
    <p1510:client id="{8B5C4332-370F-ADF0-9899-AAAAC610EFA2}" v="2750" dt="2026-01-07T22:07:02.474"/>
    <p1510:client id="{9E4DCC4F-03BB-86E4-4393-1BB9261C7333}" v="189" dt="2026-01-07T16:36:53.752"/>
    <p1510:client id="{C9D1BB60-571D-F84C-88D2-32978D2F5894}" v="1702" dt="2026-01-07T22:18:08.489"/>
    <p1510:client id="{E1A45ABA-2E9C-422F-ADB7-7945D9ADBBCE}" v="1882" dt="2026-01-07T21:23:44.500"/>
    <p1510:client id="{EB8E9249-3A2A-8CA7-599E-AB19CB05D54C}" v="89" dt="2026-01-07T17:19:46.102"/>
    <p1510:client id="{EEAE183E-4D70-A7D7-B4DB-143F35F73807}" v="31" dt="2026-01-07T16:37:13.8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Stile chiaro 3 - Color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DEA85-6C5A-C44D-8089-0EACACA635A2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FA8D3-FD70-9440-8F67-2180943F85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1276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FA8D3-FD70-9440-8F67-2180943F857A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0864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E85DFB-CC1D-AF9F-F4B5-93F12CBDC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24579D1-F324-67B4-5281-1F3CB73D9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E807D9-120C-347C-6131-EE18C1DD2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AD046-8D2E-444E-B6F4-94B0931E7BE2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22D7E9-BD42-8FC7-A3D5-CA6294092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E483EC8-41A4-4C0D-7E2C-924EA6A2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EB7D-8393-4342-BC0B-FDAFF2D0EAE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0431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2F2B3B-EE2C-8FA6-8E7C-F0048F6E3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A73C6C-256F-CB15-93BC-FD30282CD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5853434-3149-7A2D-085E-16ABE08E9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AD046-8D2E-444E-B6F4-94B0931E7BE2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9C9B8A8-5027-8832-AAEF-97DEA8843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726F754-FA27-AD53-BBBE-C71E9F691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EB7D-8393-4342-BC0B-FDAFF2D0EAE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4783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3D29B2-8843-8FE9-72FC-FCD72944E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B69A32-6540-5865-632A-9C3D03F52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ED416C-1E8B-14CB-3972-9991A96AA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AD046-8D2E-444E-B6F4-94B0931E7BE2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2C7CD14-6C39-C4AB-00C3-DE4E76E45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DF9E4B-6755-A6AD-0414-2F58F54AA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EB7D-8393-4342-BC0B-FDAFF2D0EAE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8040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6FF75A-0712-FA64-BB9C-5FAB76FCD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1767DE-650D-1C19-2A68-EB4B0ED3B7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2F3B492-F6A9-FE54-2E83-667967A40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36B058E-E07C-43F0-2953-4D540B515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AD046-8D2E-444E-B6F4-94B0931E7BE2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1EAC758-C976-2770-1883-85FB7293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1354F9A-62E2-0F14-177B-BF23D1C4E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EB7D-8393-4342-BC0B-FDAFF2D0EAE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0571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A1954E-B008-0197-041B-6A0C6DC1D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443FBB0-A858-D56B-3265-B31E0EB2D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43DE3B4-7FDD-513F-83E9-A97C05B16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3634CC7-3566-0268-D5B0-7620132A8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584DCB5-A74B-81C5-245A-BD73F4FD42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6871C4D-949F-BC0F-3DEC-3F7C6298F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AD046-8D2E-444E-B6F4-94B0931E7BE2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3B0ED88-7B27-27AB-216A-BA320A4D8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81D933F-B742-257B-E08C-1D39B9CF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EB7D-8393-4342-BC0B-FDAFF2D0EAE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1097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C6BFE6-CEBD-6394-2968-6643AB5EF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EB695C-2E9E-71B4-8FB5-56937DB16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AD046-8D2E-444E-B6F4-94B0931E7BE2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1AE6F5A-E48B-29F0-FD82-D9E1CFD5E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5FFEC49-8556-5543-CD35-93660F5AA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EB7D-8393-4342-BC0B-FDAFF2D0EAE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683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AA0EB6B-5DC3-5E65-F2A6-D378FB1FB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AD046-8D2E-444E-B6F4-94B0931E7BE2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6EB4832-5A3B-222E-1196-33030F81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C5B7165-7248-F5B9-46E9-51123931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EB7D-8393-4342-BC0B-FDAFF2D0EAE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047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344696-4AC0-2F89-FFE8-1CB5C01AE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F44505-7CD1-CEF4-5D08-66B82EA52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D0F0CDC-1901-D0F9-3383-41A2A4FE1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8D102EA-24C0-C8FA-2366-E1AE7B773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AD046-8D2E-444E-B6F4-94B0931E7BE2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AF2B03E-DFE6-7A68-0EB3-86E78A8AB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2FA87F6-0DB8-7916-362A-76FE4EB2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EB7D-8393-4342-BC0B-FDAFF2D0EAE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5313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16E4C7-5F56-1CC5-E1F8-BA440F62F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73D94E0-F324-2271-4BD2-2AEDF8F426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B39D04C-F934-4F0E-3AA5-71227EC8B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69F8304-5D3C-7720-2916-F257DFD67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AD046-8D2E-444E-B6F4-94B0931E7BE2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D5DB415-CB32-10FF-D396-ECF17F527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7BB440F-5463-2CE4-30AF-D27AEC253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EB7D-8393-4342-BC0B-FDAFF2D0EAE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1768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EC7896-1582-6A33-E63B-DB155C732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D919154-6044-A6E6-0A72-51100B911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7F7E3BE-C33A-2578-AB8A-2C478339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AD046-8D2E-444E-B6F4-94B0931E7BE2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A0BFE28-7BE2-B3F2-1CE6-4F97DF80E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764A24B-D34A-D12D-83F4-B8E4335B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EB7D-8393-4342-BC0B-FDAFF2D0EAE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7569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B90C763-18B1-9B13-59B2-E08D27309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64968F4-6B88-77F4-AD04-7AE40C9A3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27751F-06D2-5291-70A4-C154BCB2D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AD046-8D2E-444E-B6F4-94B0931E7BE2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D29BB7E-88F6-51CF-2567-2B92FB5CB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E63A140-61E0-7993-FC96-7A522D0CA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AEB7D-8393-4342-BC0B-FDAFF2D0EAE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882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52E0460-5F10-6013-981F-8F795B828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9DBB43E-AD58-1C8A-BA70-BC110D248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9AF02CF-C07A-4096-4E4B-8451BCA763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AD046-8D2E-444E-B6F4-94B0931E7BE2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637E39-CCBA-1581-F185-7EA29E013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1DFCEC-AA4C-BFE1-B276-A0377B5522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AEB7D-8393-4342-BC0B-FDAFF2D0EAE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942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3B9E6-F224-A689-FC22-35C176DAE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EFD1842-449F-FD0F-5B19-C271A66D4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3" y="-1"/>
            <a:ext cx="767571" cy="87507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0AFFD584-0C4B-7F1F-D814-14465E9D7C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142" y="1"/>
            <a:ext cx="8917858" cy="6911980"/>
          </a:xfrm>
          <a:prstGeom prst="rect">
            <a:avLst/>
          </a:prstGeom>
        </p:spPr>
      </p:pic>
      <p:sp>
        <p:nvSpPr>
          <p:cNvPr id="9" name="Triangolo rettangolo 8">
            <a:extLst>
              <a:ext uri="{FF2B5EF4-FFF2-40B4-BE49-F238E27FC236}">
                <a16:creationId xmlns:a16="http://schemas.microsoft.com/office/drawing/2014/main" id="{657E948A-9840-C7D7-3C32-96C74C6A7ECF}"/>
              </a:ext>
            </a:extLst>
          </p:cNvPr>
          <p:cNvSpPr/>
          <p:nvPr/>
        </p:nvSpPr>
        <p:spPr>
          <a:xfrm flipV="1">
            <a:off x="3274142" y="0"/>
            <a:ext cx="5063613" cy="68580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DFFC999-D600-744E-AB07-F25A881CA16E}"/>
              </a:ext>
            </a:extLst>
          </p:cNvPr>
          <p:cNvSpPr txBox="1"/>
          <p:nvPr/>
        </p:nvSpPr>
        <p:spPr>
          <a:xfrm>
            <a:off x="382803" y="1497076"/>
            <a:ext cx="675397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 b="1">
                <a:solidFill>
                  <a:srgbClr val="003576"/>
                </a:solidFill>
                <a:latin typeface="Times New Roman"/>
                <a:ea typeface="+mn-lt"/>
                <a:cs typeface="+mn-lt"/>
              </a:rPr>
              <a:t>CHARACTERISTICS OF SUCCESSFUL OPINION LEADERS IN A BOUNDED CONFIDENCE MODEL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6D40DF5-B0E9-3E34-DC77-14A1B5E7A6B7}"/>
              </a:ext>
            </a:extLst>
          </p:cNvPr>
          <p:cNvSpPr txBox="1"/>
          <p:nvPr/>
        </p:nvSpPr>
        <p:spPr>
          <a:xfrm>
            <a:off x="382803" y="2372146"/>
            <a:ext cx="4327275" cy="40934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1600" b="1">
                <a:solidFill>
                  <a:srgbClr val="003576"/>
                </a:solidFill>
                <a:latin typeface="Times New Roman"/>
                <a:cs typeface="Times New Roman"/>
              </a:rPr>
              <a:t>NETWORKED CONTROL SYSTEM</a:t>
            </a:r>
          </a:p>
          <a:p>
            <a:endParaRPr lang="it-IT" sz="1600" b="1">
              <a:solidFill>
                <a:srgbClr val="00357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1600" b="1">
              <a:solidFill>
                <a:srgbClr val="00357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1600" b="1">
                <a:solidFill>
                  <a:srgbClr val="003576"/>
                </a:solidFill>
                <a:latin typeface="Times New Roman"/>
                <a:cs typeface="Times New Roman"/>
              </a:rPr>
              <a:t>MSC MECHATRONIC ENGINEERING</a:t>
            </a:r>
          </a:p>
          <a:p>
            <a:endParaRPr lang="it-IT" sz="1400" b="1">
              <a:solidFill>
                <a:srgbClr val="00357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1400" b="1">
              <a:solidFill>
                <a:srgbClr val="00357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1400" b="1">
                <a:solidFill>
                  <a:srgbClr val="003576"/>
                </a:solidFill>
                <a:latin typeface="Times New Roman"/>
                <a:cs typeface="Times New Roman"/>
              </a:rPr>
              <a:t>PROF:  ANTON PROSKURNIKOV</a:t>
            </a:r>
          </a:p>
          <a:p>
            <a:endParaRPr lang="it-IT" sz="1400" b="1">
              <a:solidFill>
                <a:srgbClr val="00357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1400" b="1">
              <a:solidFill>
                <a:srgbClr val="00357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1400" b="1">
                <a:solidFill>
                  <a:srgbClr val="003576"/>
                </a:solidFill>
                <a:latin typeface="Times New Roman"/>
                <a:cs typeface="Times New Roman"/>
              </a:rPr>
              <a:t>GROUP: </a:t>
            </a:r>
          </a:p>
          <a:p>
            <a:r>
              <a:rPr lang="it-IT" sz="1400" b="1">
                <a:solidFill>
                  <a:srgbClr val="003576"/>
                </a:solidFill>
                <a:latin typeface="Times New Roman"/>
                <a:cs typeface="Times New Roman"/>
              </a:rPr>
              <a:t>PIERLUIGI SACCONE , 355355 </a:t>
            </a:r>
          </a:p>
          <a:p>
            <a:r>
              <a:rPr lang="it-IT" sz="1400" b="1">
                <a:solidFill>
                  <a:srgbClr val="003576"/>
                </a:solidFill>
                <a:latin typeface="Times New Roman"/>
                <a:cs typeface="Times New Roman"/>
              </a:rPr>
              <a:t>MICHELE GAZZILLI, 360623 </a:t>
            </a:r>
          </a:p>
          <a:p>
            <a:r>
              <a:rPr lang="it-IT" sz="1400" b="1">
                <a:solidFill>
                  <a:srgbClr val="003576"/>
                </a:solidFill>
                <a:latin typeface="Times New Roman"/>
                <a:cs typeface="Times New Roman"/>
              </a:rPr>
              <a:t>CESARE MESSA, 361616  </a:t>
            </a:r>
          </a:p>
          <a:p>
            <a:r>
              <a:rPr lang="it-IT" sz="1400" b="1">
                <a:solidFill>
                  <a:srgbClr val="003576"/>
                </a:solidFill>
                <a:latin typeface="Times New Roman"/>
                <a:cs typeface="Times New Roman"/>
              </a:rPr>
              <a:t>GOFFREDO PIAZZA, 360031 </a:t>
            </a:r>
          </a:p>
          <a:p>
            <a:endParaRPr lang="it-IT" sz="1400" b="1">
              <a:solidFill>
                <a:srgbClr val="00357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1400" b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WORK: 25% EACH </a:t>
            </a:r>
          </a:p>
          <a:p>
            <a:endParaRPr lang="it-IT" sz="1400" b="1">
              <a:solidFill>
                <a:srgbClr val="00357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1400" b="1">
                <a:solidFill>
                  <a:srgbClr val="003576"/>
                </a:solidFill>
                <a:latin typeface="Times New Roman"/>
                <a:cs typeface="Times New Roman"/>
              </a:rPr>
              <a:t>A.Y 2025/26</a:t>
            </a:r>
          </a:p>
        </p:txBody>
      </p:sp>
    </p:spTree>
    <p:extLst>
      <p:ext uri="{BB962C8B-B14F-4D97-AF65-F5344CB8AC3E}">
        <p14:creationId xmlns:p14="http://schemas.microsoft.com/office/powerpoint/2010/main" val="1807923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2BBEC8-4C56-AEB1-AB0A-65116A5C1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887" y="1011434"/>
            <a:ext cx="10578228" cy="51655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We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adopt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the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extended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Hegselmann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-Krause model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formulation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as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described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in Chen et al. (2016). </a:t>
            </a:r>
            <a:endParaRPr lang="it-IT">
              <a:solidFill>
                <a:schemeClr val="accent1">
                  <a:lumMod val="49000"/>
                </a:schemeClr>
              </a:solidFill>
            </a:endParaRPr>
          </a:p>
          <a:p>
            <a:pPr marL="0" indent="0">
              <a:buNone/>
            </a:pP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Consider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a society of  200 agents, with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two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competing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opinion leaders L1 and L2. The opinion of agents 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at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time t</a:t>
            </a:r>
            <a:endParaRPr lang="it-IT">
              <a:solidFill>
                <a:schemeClr val="accent1">
                  <a:lumMod val="49000"/>
                </a:schemeClr>
              </a:solidFill>
              <a:latin typeface="Calibri" panose="020F0502020204030204"/>
              <a:ea typeface="+mn-lt"/>
              <a:cs typeface="+mn-lt"/>
            </a:endParaRPr>
          </a:p>
          <a:p>
            <a:pPr marL="0" indent="0">
              <a:buNone/>
            </a:pP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is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represented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by a random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real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value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xi(t)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generated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between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0 and 1,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while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for the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two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Leaders 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is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fixed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at</a:t>
            </a:r>
            <a:endParaRPr lang="it-IT">
              <a:solidFill>
                <a:schemeClr val="accent1">
                  <a:lumMod val="49000"/>
                </a:schemeClr>
              </a:solidFill>
              <a:latin typeface="Calibri" panose="020F0502020204030204"/>
              <a:ea typeface="+mn-lt"/>
              <a:cs typeface="+mn-lt"/>
            </a:endParaRPr>
          </a:p>
          <a:p>
            <a:pPr marL="0" indent="0">
              <a:buNone/>
            </a:pP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0.2 and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at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0.8,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respectively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. In the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classic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HK model,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at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each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time step t, agents i updates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its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opinion by</a:t>
            </a:r>
            <a:endParaRPr lang="it-IT">
              <a:solidFill>
                <a:schemeClr val="accent1">
                  <a:lumMod val="49000"/>
                </a:schemeClr>
              </a:solidFill>
              <a:latin typeface="Calibri" panose="020F0502020204030204"/>
              <a:ea typeface="+mn-lt"/>
              <a:cs typeface="+mn-lt"/>
            </a:endParaRPr>
          </a:p>
          <a:p>
            <a:pPr marL="0" indent="0">
              <a:buNone/>
            </a:pP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averaging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the opinions of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all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agents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within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its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confidence set I(i, t),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defined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as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: </a:t>
            </a:r>
            <a:endParaRPr lang="it-IT">
              <a:solidFill>
                <a:schemeClr val="accent1">
                  <a:lumMod val="49000"/>
                </a:schemeClr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it-IT" sz="1800">
              <a:solidFill>
                <a:schemeClr val="accent1">
                  <a:lumMod val="49000"/>
                </a:schemeClr>
              </a:solidFill>
              <a:latin typeface="Times New Roman"/>
              <a:ea typeface="Calibri"/>
              <a:cs typeface="Calibri"/>
            </a:endParaRPr>
          </a:p>
          <a:p>
            <a:pPr marL="0" indent="0">
              <a:buNone/>
            </a:pPr>
            <a:endParaRPr lang="it-IT" sz="2400">
              <a:solidFill>
                <a:schemeClr val="accent1">
                  <a:lumMod val="49000"/>
                </a:schemeClr>
              </a:solidFill>
              <a:latin typeface="Times New Roman"/>
              <a:ea typeface="Calibri"/>
              <a:cs typeface="Calibri"/>
            </a:endParaRPr>
          </a:p>
          <a:p>
            <a:pPr>
              <a:buNone/>
            </a:pP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where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" sz="1800">
                <a:solidFill>
                  <a:schemeClr val="accent1">
                    <a:lumMod val="49000"/>
                  </a:schemeClr>
                </a:solidFill>
                <a:latin typeface="Cambria Math"/>
                <a:ea typeface="Cambria Math"/>
                <a:cs typeface="+mn-lt"/>
              </a:rPr>
              <a:t>∈</a:t>
            </a:r>
            <a:r>
              <a:rPr lang="it-IT" sz="1800" baseline="-250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i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= T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is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the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bound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of confidence. </a:t>
            </a:r>
          </a:p>
          <a:p>
            <a:pPr>
              <a:buNone/>
            </a:pPr>
            <a:r>
              <a:rPr lang="it-IT" sz="180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For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every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agents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we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assaign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value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named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 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Reputation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(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r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),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which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reflect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the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solcial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power of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each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agents. </a:t>
            </a:r>
          </a:p>
          <a:p>
            <a:pPr>
              <a:buNone/>
            </a:pPr>
            <a:r>
              <a:rPr lang="it-IT" sz="180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The new rule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is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given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by the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weighted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average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:</a:t>
            </a:r>
            <a:endParaRPr lang="it-IT" sz="1800">
              <a:solidFill>
                <a:schemeClr val="accent1">
                  <a:lumMod val="49000"/>
                </a:schemeClr>
              </a:solidFill>
              <a:ea typeface="Calibri"/>
              <a:cs typeface="Calibri"/>
            </a:endParaRPr>
          </a:p>
          <a:p>
            <a:pPr>
              <a:buNone/>
            </a:pPr>
            <a:endParaRPr lang="it-IT" sz="1600">
              <a:solidFill>
                <a:schemeClr val="accent1">
                  <a:lumMod val="49000"/>
                </a:schemeClr>
              </a:solidFill>
              <a:latin typeface="Times New Roman"/>
              <a:ea typeface="Calibri"/>
              <a:cs typeface="Calibri"/>
            </a:endParaRPr>
          </a:p>
        </p:txBody>
      </p:sp>
      <p:pic>
        <p:nvPicPr>
          <p:cNvPr id="5" name="Immagine 4" descr="Immagine che contiene Elementi grafici, logo, cerchio, grafica&#10;&#10;Il contenuto generato dall&amp;#39;IA potrebbe non essere corretto.">
            <a:extLst>
              <a:ext uri="{FF2B5EF4-FFF2-40B4-BE49-F238E27FC236}">
                <a16:creationId xmlns:a16="http://schemas.microsoft.com/office/drawing/2014/main" id="{5C1F265C-EC6A-C823-0DDE-96713637D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3" y="-1"/>
            <a:ext cx="767571" cy="875072"/>
          </a:xfrm>
          <a:prstGeom prst="rect">
            <a:avLst/>
          </a:prstGeom>
        </p:spPr>
      </p:pic>
      <p:pic>
        <p:nvPicPr>
          <p:cNvPr id="6" name="Immagine 5" descr="Immagine che contiene Carattere, testo, calligrafia, tipografia&#10;&#10;Il contenuto generato dall&amp;#39;IA potrebbe non essere corretto.">
            <a:extLst>
              <a:ext uri="{FF2B5EF4-FFF2-40B4-BE49-F238E27FC236}">
                <a16:creationId xmlns:a16="http://schemas.microsoft.com/office/drawing/2014/main" id="{D9FDD0E2-F177-B3B1-57BC-827A87EBE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948" y="2929925"/>
            <a:ext cx="3982103" cy="664273"/>
          </a:xfrm>
          <a:prstGeom prst="rect">
            <a:avLst/>
          </a:prstGeom>
        </p:spPr>
      </p:pic>
      <p:sp>
        <p:nvSpPr>
          <p:cNvPr id="8" name="Titolo 1">
            <a:extLst>
              <a:ext uri="{FF2B5EF4-FFF2-40B4-BE49-F238E27FC236}">
                <a16:creationId xmlns:a16="http://schemas.microsoft.com/office/drawing/2014/main" id="{95F9122D-BD99-9369-258B-8586E1D73751}"/>
              </a:ext>
            </a:extLst>
          </p:cNvPr>
          <p:cNvSpPr txBox="1">
            <a:spLocks/>
          </p:cNvSpPr>
          <p:nvPr/>
        </p:nvSpPr>
        <p:spPr>
          <a:xfrm>
            <a:off x="4556956" y="198107"/>
            <a:ext cx="3078855" cy="6760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b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 Light"/>
                <a:cs typeface="Calibri Light"/>
              </a:rPr>
              <a:t>INTRODUCTION</a:t>
            </a:r>
          </a:p>
        </p:txBody>
      </p:sp>
      <p:pic>
        <p:nvPicPr>
          <p:cNvPr id="9" name="Immagine 8" descr="Immagine che contiene testo, Carattere, linea, calligrafia&#10;&#10;Il contenuto generato dall&amp;#39;IA potrebbe non essere corretto.">
            <a:extLst>
              <a:ext uri="{FF2B5EF4-FFF2-40B4-BE49-F238E27FC236}">
                <a16:creationId xmlns:a16="http://schemas.microsoft.com/office/drawing/2014/main" id="{30D2CCBC-98F2-16C8-AF7A-9886B3E50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772" y="5075726"/>
            <a:ext cx="3986279" cy="123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465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69388-8CBE-DE2A-398E-EDA436CA2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D27BEA-ACCC-51C7-B3F7-C6D59B153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6352" y="108152"/>
            <a:ext cx="7799294" cy="765971"/>
          </a:xfrm>
        </p:spPr>
        <p:txBody>
          <a:bodyPr>
            <a:noAutofit/>
          </a:bodyPr>
          <a:lstStyle/>
          <a:p>
            <a:r>
              <a:rPr lang="it-IT" sz="2800" b="1">
                <a:solidFill>
                  <a:schemeClr val="accent1">
                    <a:lumMod val="49000"/>
                  </a:schemeClr>
                </a:solidFill>
                <a:latin typeface="Times New Roman"/>
                <a:ea typeface="+mj-lt"/>
                <a:cs typeface="+mj-lt"/>
              </a:rPr>
              <a:t>CHARACTERISTICS OF OPINION LEADERS</a:t>
            </a:r>
            <a:endParaRPr lang="it-IT" sz="2800" b="1">
              <a:solidFill>
                <a:schemeClr val="accent1">
                  <a:lumMod val="49000"/>
                </a:schemeClr>
              </a:solidFill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9AFABE2-8C3A-686E-82A8-AEEEBE4F2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205" y="1237597"/>
            <a:ext cx="10757647" cy="444602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it-IT" sz="1600" b="1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it-IT" sz="1800" b="1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. </a:t>
            </a:r>
            <a:r>
              <a:rPr lang="it-IT" sz="1800" b="1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Reputation</a:t>
            </a:r>
            <a:r>
              <a:rPr lang="it-IT" sz="1800" b="1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(R):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This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eflects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the social power. Leaders are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assigned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a weight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Ri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≫ 1,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whereas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normal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agents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typically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have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a weight R= 1.</a:t>
            </a:r>
            <a:endParaRPr lang="it-IT" sz="18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pPr algn="l"/>
            <a:endParaRPr lang="it-IT" sz="1800" b="1">
              <a:solidFill>
                <a:schemeClr val="accent1">
                  <a:lumMod val="49000"/>
                </a:schemeClr>
              </a:solidFill>
              <a:latin typeface="Times New Roman"/>
              <a:ea typeface="+mn-lt"/>
              <a:cs typeface="+mn-lt"/>
            </a:endParaRPr>
          </a:p>
          <a:p>
            <a:pPr algn="l"/>
            <a:r>
              <a:rPr lang="it-IT" sz="1800" b="1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2. </a:t>
            </a:r>
            <a:r>
              <a:rPr lang="it-IT" sz="1800" b="1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Stubbornness</a:t>
            </a:r>
            <a:r>
              <a:rPr lang="it-IT" sz="1800" b="1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(S):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This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measures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the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leader’s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resistance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to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been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influenced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by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normal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agents.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It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is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related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to the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leader’s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confidence </a:t>
            </a:r>
            <a:r>
              <a:rPr lang="it-IT" sz="18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bound</a:t>
            </a:r>
            <a:r>
              <a:rPr lang="it-IT" sz="18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TL by the relation:</a:t>
            </a:r>
            <a:endParaRPr lang="it-IT" sz="18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r>
              <a:rPr lang="it-IT" sz="2000" b="1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Si = 1 − </a:t>
            </a:r>
            <a:r>
              <a:rPr lang="it-IT" sz="2000" b="1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TLi</a:t>
            </a:r>
            <a:endParaRPr lang="it-IT" sz="2000" b="1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pPr algn="l"/>
            <a:endParaRPr lang="it-IT" sz="1800" b="1">
              <a:solidFill>
                <a:schemeClr val="accent1">
                  <a:lumMod val="49000"/>
                </a:schemeClr>
              </a:solidFill>
              <a:latin typeface="Times New Roman"/>
              <a:ea typeface="+mn-lt"/>
              <a:cs typeface="+mn-lt"/>
            </a:endParaRPr>
          </a:p>
          <a:p>
            <a:pPr algn="l"/>
            <a:r>
              <a:rPr lang="it-IT" sz="1800" b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3. Appeal (A):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this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is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the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specific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confidence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bound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of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normal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agents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towards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leader Li,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allowing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the leader to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influence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distant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agents.</a:t>
            </a:r>
            <a:endParaRPr lang="it-IT" sz="180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pPr algn="l"/>
            <a:endParaRPr lang="it-IT" sz="1800" b="1">
              <a:solidFill>
                <a:schemeClr val="accent1">
                  <a:lumMod val="49000"/>
                </a:schemeClr>
              </a:solidFill>
              <a:latin typeface="Times New Roman"/>
              <a:ea typeface="+mn-lt"/>
              <a:cs typeface="+mn-lt"/>
            </a:endParaRPr>
          </a:p>
          <a:p>
            <a:pPr algn="l"/>
            <a:r>
              <a:rPr lang="it-IT" sz="1800" b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4. </a:t>
            </a:r>
            <a:r>
              <a:rPr lang="it-IT" sz="1800" b="1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Extremeness</a:t>
            </a:r>
            <a:r>
              <a:rPr lang="it-IT" sz="1800" b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(E):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This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quantifies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how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far the 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leader's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opinion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is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relative to the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extreme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value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0 and 1.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It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is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defined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as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:</a:t>
            </a:r>
            <a:endParaRPr lang="it-IT" sz="1800">
              <a:solidFill>
                <a:schemeClr val="accent1">
                  <a:lumMod val="49000"/>
                </a:schemeClr>
              </a:solidFill>
              <a:latin typeface="Times New Roman"/>
              <a:ea typeface="+mn-lt"/>
              <a:cs typeface="Times New Roman"/>
            </a:endParaRPr>
          </a:p>
          <a:p>
            <a:r>
              <a:rPr lang="it-IT" sz="2000" b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Ei = 2 · |0.5 − </a:t>
            </a:r>
            <a:r>
              <a:rPr lang="it-IT" sz="2000" b="1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xLi</a:t>
            </a:r>
            <a:r>
              <a:rPr lang="it-IT" sz="2000" b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(t)| </a:t>
            </a:r>
            <a:endParaRPr lang="it-IT" sz="2000" b="1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5D19074-C727-EB57-2D94-D6B987612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3" y="-1"/>
            <a:ext cx="767571" cy="87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85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E077AB-0374-68F7-AB1D-6110B8B6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376" y="241861"/>
            <a:ext cx="8330453" cy="630798"/>
          </a:xfrm>
        </p:spPr>
        <p:txBody>
          <a:bodyPr>
            <a:noAutofit/>
          </a:bodyPr>
          <a:lstStyle/>
          <a:p>
            <a:r>
              <a:rPr lang="it-IT" sz="2800" b="1">
                <a:solidFill>
                  <a:schemeClr val="accent1">
                    <a:lumMod val="49000"/>
                  </a:schemeClr>
                </a:solidFill>
                <a:latin typeface="Times New Roman"/>
                <a:ea typeface="+mj-lt"/>
                <a:cs typeface="Times New Roman"/>
              </a:rPr>
              <a:t>IMPACT OF GROUP BOUND OF CONFIDENCE</a:t>
            </a:r>
            <a:endParaRPr lang="it-IT" sz="2800" b="1">
              <a:solidFill>
                <a:schemeClr val="accent1">
                  <a:lumMod val="49000"/>
                </a:schemeClr>
              </a:solidFill>
              <a:latin typeface="Times New Roman"/>
              <a:ea typeface="Calibri Light"/>
              <a:cs typeface="Times New Roman"/>
            </a:endParaRPr>
          </a:p>
        </p:txBody>
      </p:sp>
      <p:pic>
        <p:nvPicPr>
          <p:cNvPr id="4" name="Segnaposto contenuto 3" descr="Immagine che contiene diagramma, linea, schermat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983E101E-E44D-B613-E0ED-0EC744D12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761" y="2179737"/>
            <a:ext cx="3433482" cy="3452610"/>
          </a:xfrm>
          <a:prstGeom prst="rect">
            <a:avLst/>
          </a:prstGeom>
        </p:spPr>
      </p:pic>
      <p:pic>
        <p:nvPicPr>
          <p:cNvPr id="5" name="Immagine 4" descr="Immagine che contiene linea, diagramma, Diagramma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6D4C0CCF-6D89-DCBD-403E-87622C6F8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232" y="2185145"/>
            <a:ext cx="3678332" cy="3451412"/>
          </a:xfrm>
          <a:prstGeom prst="rect">
            <a:avLst/>
          </a:prstGeom>
        </p:spPr>
      </p:pic>
      <p:pic>
        <p:nvPicPr>
          <p:cNvPr id="8" name="Immagine 7" descr="Immagine che contiene Elementi grafici, logo, cerchio, grafica&#10;&#10;Il contenuto generato dall&amp;#39;IA potrebbe non essere corretto.">
            <a:extLst>
              <a:ext uri="{FF2B5EF4-FFF2-40B4-BE49-F238E27FC236}">
                <a16:creationId xmlns:a16="http://schemas.microsoft.com/office/drawing/2014/main" id="{09EA8D12-48AB-00C3-B149-31026C105F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3" y="-1"/>
            <a:ext cx="767571" cy="875072"/>
          </a:xfrm>
          <a:prstGeom prst="rect">
            <a:avLst/>
          </a:prstGeom>
        </p:spPr>
      </p:pic>
      <p:pic>
        <p:nvPicPr>
          <p:cNvPr id="6" name="Immagine 5" descr="Immagine che contiene testo, diagramma, schermat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4F770CF6-E4F8-7A8A-0258-345F27482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2960" y="2186825"/>
            <a:ext cx="3558990" cy="3448052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30BE2AB-31E0-E973-79A1-236E9A6CEEBF}"/>
              </a:ext>
            </a:extLst>
          </p:cNvPr>
          <p:cNvSpPr txBox="1"/>
          <p:nvPr/>
        </p:nvSpPr>
        <p:spPr>
          <a:xfrm>
            <a:off x="558108" y="991837"/>
            <a:ext cx="112260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For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each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variable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we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study the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average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number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of groups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formed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for 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different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values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of the group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bound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of confidence T,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at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different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value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of the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variable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This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is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because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the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higher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T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is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the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faster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consensus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will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be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reached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as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dimostrated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from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our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simulations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Moreover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we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study the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average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number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of followers for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each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it-IT" err="1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leader's</a:t>
            </a:r>
            <a:r>
              <a:rPr lang="it-IT">
                <a:solidFill>
                  <a:srgbClr val="003576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group. 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E16FBEF-FAC4-615E-997F-7237593F308D}"/>
              </a:ext>
            </a:extLst>
          </p:cNvPr>
          <p:cNvSpPr txBox="1"/>
          <p:nvPr/>
        </p:nvSpPr>
        <p:spPr>
          <a:xfrm>
            <a:off x="2785170" y="6114842"/>
            <a:ext cx="6138582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i="1" err="1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Configuration</a:t>
            </a:r>
            <a:r>
              <a:rPr lang="it-IT" sz="1600" i="1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 of </a:t>
            </a:r>
            <a:r>
              <a:rPr lang="it-IT" sz="1600" i="1" err="1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final</a:t>
            </a:r>
            <a:r>
              <a:rPr lang="it-IT" sz="1600" i="1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 opinions, for T=0.1, 0.3, 0.5. Ai = </a:t>
            </a:r>
            <a:r>
              <a:rPr lang="it-IT" sz="1600" i="1" err="1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TLi</a:t>
            </a:r>
            <a:r>
              <a:rPr lang="it-IT" sz="1600" i="1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 = 0.5, </a:t>
            </a:r>
            <a:r>
              <a:rPr lang="it-IT" sz="1600" i="1" err="1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Ri</a:t>
            </a:r>
            <a:r>
              <a:rPr lang="it-IT" sz="1600" i="1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 = 10.</a:t>
            </a:r>
            <a:endParaRPr lang="it-IT" sz="1600">
              <a:solidFill>
                <a:schemeClr val="accent1">
                  <a:lumMod val="49000"/>
                </a:schemeClr>
              </a:solidFill>
              <a:ea typeface="Calibri"/>
              <a:cs typeface="Calibri"/>
            </a:endParaRPr>
          </a:p>
          <a:p>
            <a:pPr algn="l"/>
            <a:endParaRPr lang="it-IT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0824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E575E-7493-78AC-1B7F-4CFEA699A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BD3926-EE34-1A66-ABA9-A2FEF3847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9264" y="433430"/>
            <a:ext cx="7386518" cy="446067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r>
              <a:rPr lang="it-IT" sz="2800" b="1">
                <a:solidFill>
                  <a:srgbClr val="003576"/>
                </a:solidFill>
                <a:latin typeface="Times New Roman"/>
                <a:ea typeface="Calibri Light"/>
                <a:cs typeface="Times New Roman"/>
              </a:rPr>
              <a:t>VALIDATION OF REPUTATION IMPACT</a:t>
            </a:r>
            <a:endParaRPr lang="it-IT" sz="2800">
              <a:ea typeface="Calibri Light"/>
              <a:cs typeface="Calibri Light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4964D69-8DA0-D49F-5B41-07FE4C7DD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3" y="-1"/>
            <a:ext cx="767571" cy="875072"/>
          </a:xfrm>
          <a:prstGeom prst="rect">
            <a:avLst/>
          </a:prstGeom>
        </p:spPr>
      </p:pic>
      <p:pic>
        <p:nvPicPr>
          <p:cNvPr id="5" name="Immagine 4" descr="Immagine che contiene testo, Diagramma, schermat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0D8E41B4-B4B3-A0C0-7656-6F85D8B5B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80" y="1288158"/>
            <a:ext cx="5533610" cy="4088420"/>
          </a:xfrm>
          <a:prstGeom prst="rect">
            <a:avLst/>
          </a:prstGeom>
        </p:spPr>
      </p:pic>
      <p:pic>
        <p:nvPicPr>
          <p:cNvPr id="6" name="Immagine 5" descr="Immagine che contiene testo, Diagramm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0E876DD6-4B28-9D3D-9A75-9591BFF37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2172" y="1291582"/>
            <a:ext cx="5519957" cy="4091244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89D26ED-FBE3-8B69-C41C-0C1579C186D2}"/>
              </a:ext>
            </a:extLst>
          </p:cNvPr>
          <p:cNvSpPr txBox="1"/>
          <p:nvPr/>
        </p:nvSpPr>
        <p:spPr>
          <a:xfrm>
            <a:off x="702943" y="5691871"/>
            <a:ext cx="1078902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1600" i="1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Average</a:t>
            </a:r>
            <a:r>
              <a:rPr lang="it-IT" sz="1600" i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600" i="1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number</a:t>
            </a:r>
            <a:r>
              <a:rPr lang="it-IT" sz="1600" i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of groups with </a:t>
            </a:r>
            <a:r>
              <a:rPr lang="it-IT" sz="1600" i="1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respect</a:t>
            </a:r>
            <a:r>
              <a:rPr lang="it-IT" sz="1600" i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to: (a) group </a:t>
            </a:r>
            <a:r>
              <a:rPr lang="it-IT" sz="1600" i="1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bound</a:t>
            </a:r>
            <a:r>
              <a:rPr lang="it-IT" sz="1600" i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of confidence T for </a:t>
            </a:r>
            <a:r>
              <a:rPr lang="it-IT" sz="1600" i="1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different</a:t>
            </a:r>
            <a:r>
              <a:rPr lang="it-IT" sz="1600" i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600" i="1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reputation</a:t>
            </a:r>
            <a:r>
              <a:rPr lang="it-IT" sz="1600" i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600" i="1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values</a:t>
            </a:r>
            <a:r>
              <a:rPr lang="it-IT" sz="1600" i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, and (b) </a:t>
            </a:r>
            <a:r>
              <a:rPr lang="it-IT" sz="1600" i="1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reputation</a:t>
            </a:r>
            <a:r>
              <a:rPr lang="it-IT" sz="1600" i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600" i="1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Ri</a:t>
            </a:r>
            <a:r>
              <a:rPr lang="it-IT" sz="1600" i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with </a:t>
            </a:r>
            <a:r>
              <a:rPr lang="it-IT" sz="1600" i="1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different</a:t>
            </a:r>
            <a:r>
              <a:rPr lang="it-IT" sz="1600" i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bounds of confidence </a:t>
            </a:r>
            <a:r>
              <a:rPr lang="it-IT" sz="1600" i="1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values</a:t>
            </a:r>
            <a:r>
              <a:rPr lang="it-IT" sz="1600" i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.</a:t>
            </a:r>
            <a:endParaRPr lang="it-IT" sz="1600" i="1">
              <a:solidFill>
                <a:srgbClr val="00206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30571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schermata,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6C65C7A9-62C1-C5D6-B82C-2C71168C5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073" y="3720342"/>
            <a:ext cx="4510613" cy="2423565"/>
          </a:xfrm>
          <a:prstGeom prst="rect">
            <a:avLst/>
          </a:prstGeom>
        </p:spPr>
      </p:pic>
      <p:pic>
        <p:nvPicPr>
          <p:cNvPr id="6" name="Immagine 5" descr="Immagine che contiene testo, schermata,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422D36FE-522B-8EA1-973F-BB1ED2C82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882" y="3716637"/>
            <a:ext cx="4514951" cy="2429437"/>
          </a:xfrm>
          <a:prstGeom prst="rect">
            <a:avLst/>
          </a:prstGeom>
        </p:spPr>
      </p:pic>
      <p:pic>
        <p:nvPicPr>
          <p:cNvPr id="7" name="Immagine 6" descr="Immagine che contiene testo, Diagramma, linea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F77AB28E-3B6C-EC1F-2933-833B71C09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978" y="1145876"/>
            <a:ext cx="4483552" cy="2413955"/>
          </a:xfrm>
          <a:prstGeom prst="rect">
            <a:avLst/>
          </a:prstGeom>
        </p:spPr>
      </p:pic>
      <p:pic>
        <p:nvPicPr>
          <p:cNvPr id="8" name="Immagine 7" descr="Immagine che contiene testo, schermata,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697C9D7F-560E-F99B-3475-FF73AD925F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812" y="1143136"/>
            <a:ext cx="4505134" cy="2420202"/>
          </a:xfrm>
          <a:prstGeom prst="rect">
            <a:avLst/>
          </a:prstGeom>
        </p:spPr>
      </p:pic>
      <p:pic>
        <p:nvPicPr>
          <p:cNvPr id="10" name="Immagine 9" descr="Immagine che contiene Elementi grafici, logo, cerchio, grafica&#10;&#10;Il contenuto generato dall&amp;#39;IA potrebbe non essere corretto.">
            <a:extLst>
              <a:ext uri="{FF2B5EF4-FFF2-40B4-BE49-F238E27FC236}">
                <a16:creationId xmlns:a16="http://schemas.microsoft.com/office/drawing/2014/main" id="{133C0471-4737-FF30-9132-5ACE6300E7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3" y="-1"/>
            <a:ext cx="767571" cy="875072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F8F99FB-2C62-8EDE-8BAB-9D9F90C9DBB4}"/>
              </a:ext>
            </a:extLst>
          </p:cNvPr>
          <p:cNvSpPr txBox="1"/>
          <p:nvPr/>
        </p:nvSpPr>
        <p:spPr>
          <a:xfrm>
            <a:off x="774976" y="6277269"/>
            <a:ext cx="1020631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1600" i="1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Average</a:t>
            </a:r>
            <a:r>
              <a:rPr lang="it-IT" sz="1600" i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600" i="1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number</a:t>
            </a:r>
            <a:r>
              <a:rPr lang="it-IT" sz="1600" i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of followers of opinion leaders L1 and L2 with </a:t>
            </a:r>
            <a:r>
              <a:rPr lang="it-IT" sz="1600" i="1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respect</a:t>
            </a:r>
            <a:r>
              <a:rPr lang="it-IT" sz="1600" i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to the </a:t>
            </a:r>
            <a:r>
              <a:rPr lang="it-IT" sz="1600" i="1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reputation</a:t>
            </a:r>
            <a:r>
              <a:rPr lang="it-IT" sz="1600" i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of leader L1, R1, </a:t>
            </a:r>
            <a:r>
              <a:rPr lang="it-IT" sz="1600" i="1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where</a:t>
            </a:r>
            <a:r>
              <a:rPr lang="it-IT" sz="1600" i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R2 = 50, for T = 0.2, 03, 0.35, 0.4</a:t>
            </a:r>
            <a:r>
              <a:rPr lang="it-IT" sz="160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.</a:t>
            </a:r>
            <a:endParaRPr lang="it-IT" sz="1600" err="1">
              <a:latin typeface="Times New Roman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FFAE36D-0360-2DAE-4B52-7D284F65054E}"/>
              </a:ext>
            </a:extLst>
          </p:cNvPr>
          <p:cNvSpPr txBox="1"/>
          <p:nvPr/>
        </p:nvSpPr>
        <p:spPr>
          <a:xfrm>
            <a:off x="2622176" y="347381"/>
            <a:ext cx="6936441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b="1">
                <a:solidFill>
                  <a:srgbClr val="003576"/>
                </a:solidFill>
                <a:latin typeface="Times New Roman"/>
              </a:rPr>
              <a:t>VALIDATION</a:t>
            </a:r>
            <a:r>
              <a:rPr lang="it-IT" sz="2800" b="1" i="0" u="none" strike="noStrike" baseline="0">
                <a:solidFill>
                  <a:srgbClr val="003576"/>
                </a:solidFill>
                <a:latin typeface="Times New Roman"/>
              </a:rPr>
              <a:t> OF REPUTATION</a:t>
            </a:r>
            <a:r>
              <a:rPr sz="2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r>
              <a:rPr lang="it-IT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it-IT" sz="2800" b="1">
                <a:solidFill>
                  <a:srgbClr val="003576"/>
                </a:solidFill>
                <a:latin typeface="Times New Roman"/>
                <a:ea typeface="Times New Roman"/>
                <a:cs typeface="Times New Roman"/>
              </a:rPr>
              <a:t>IMPACT</a:t>
            </a:r>
            <a:endParaRPr lang="it-IT"/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8467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029B2D-6234-9EF5-19F9-0C4FC5844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4697" y="365125"/>
            <a:ext cx="4601497" cy="6232320"/>
          </a:xfrm>
        </p:spPr>
        <p:txBody>
          <a:bodyPr>
            <a:normAutofit/>
          </a:bodyPr>
          <a:lstStyle/>
          <a:p>
            <a:r>
              <a:rPr lang="it-IT" sz="2000">
                <a:solidFill>
                  <a:schemeClr val="accent1">
                    <a:lumMod val="76000"/>
                  </a:schemeClr>
                </a:solidFill>
                <a:latin typeface="Times New Roman"/>
                <a:ea typeface="Calibri Light"/>
                <a:cs typeface="Calibri Light"/>
              </a:rPr>
              <a:t> </a:t>
            </a:r>
            <a:br>
              <a:rPr lang="it-IT" sz="2000">
                <a:latin typeface="Times New Roman"/>
                <a:ea typeface="Calibri Light"/>
                <a:cs typeface="Calibri Light"/>
              </a:rPr>
            </a:br>
            <a:br>
              <a:rPr lang="it-IT" sz="2000">
                <a:latin typeface="Times New Roman"/>
                <a:ea typeface="Calibri Light"/>
                <a:cs typeface="Calibri Light"/>
              </a:rPr>
            </a:br>
            <a:br>
              <a:rPr lang="it-IT" sz="2000">
                <a:latin typeface="Times New Roman"/>
                <a:ea typeface="Calibri Light"/>
                <a:cs typeface="Calibri Light"/>
              </a:rPr>
            </a:br>
            <a:br>
              <a:rPr lang="it-IT" sz="2000">
                <a:latin typeface="Times New Roman"/>
                <a:ea typeface="Calibri Light"/>
                <a:cs typeface="Calibri Light"/>
              </a:rPr>
            </a:br>
            <a:br>
              <a:rPr lang="it-IT" sz="2000">
                <a:latin typeface="Times New Roman"/>
                <a:ea typeface="Calibri Light"/>
                <a:cs typeface="Calibri Light"/>
              </a:rPr>
            </a:br>
            <a:br>
              <a:rPr lang="it-IT" sz="2000">
                <a:latin typeface="Times New Roman"/>
                <a:ea typeface="Calibri Light"/>
                <a:cs typeface="Calibri Light"/>
              </a:rPr>
            </a:br>
            <a:br>
              <a:rPr lang="it-IT" sz="2000">
                <a:latin typeface="Times New Roman"/>
                <a:ea typeface="Calibri Light"/>
                <a:cs typeface="Calibri Light"/>
              </a:rPr>
            </a:br>
            <a:br>
              <a:rPr lang="it-IT" sz="2000">
                <a:latin typeface="Times New Roman"/>
                <a:ea typeface="Calibri Light"/>
                <a:cs typeface="Calibri Light"/>
              </a:rPr>
            </a:br>
            <a:br>
              <a:rPr lang="it-IT" sz="2000">
                <a:latin typeface="Times New Roman"/>
                <a:ea typeface="Calibri Light"/>
                <a:cs typeface="Calibri Light"/>
              </a:rPr>
            </a:br>
            <a:br>
              <a:rPr lang="it-IT" sz="2000">
                <a:latin typeface="Times New Roman"/>
                <a:ea typeface="Calibri Light"/>
                <a:cs typeface="Calibri Light"/>
              </a:rPr>
            </a:br>
            <a:br>
              <a:rPr lang="it-IT" sz="2000">
                <a:latin typeface="Times New Roman"/>
                <a:ea typeface="Calibri Light"/>
                <a:cs typeface="Calibri Light"/>
              </a:rPr>
            </a:br>
            <a:br>
              <a:rPr lang="it-IT" sz="2000">
                <a:latin typeface="Times New Roman"/>
                <a:ea typeface="Calibri Light"/>
                <a:cs typeface="Calibri Light"/>
              </a:rPr>
            </a:br>
            <a:endParaRPr lang="it-IT" sz="2000">
              <a:solidFill>
                <a:schemeClr val="accent1">
                  <a:lumMod val="76000"/>
                </a:schemeClr>
              </a:solidFill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0ACF391-0F9B-20D3-09C4-8F7D54E01564}"/>
              </a:ext>
            </a:extLst>
          </p:cNvPr>
          <p:cNvSpPr txBox="1"/>
          <p:nvPr/>
        </p:nvSpPr>
        <p:spPr>
          <a:xfrm>
            <a:off x="2560698" y="354498"/>
            <a:ext cx="727178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800" b="1">
                <a:solidFill>
                  <a:srgbClr val="003576"/>
                </a:solidFill>
                <a:latin typeface="Times New Roman"/>
                <a:cs typeface="Times New Roman"/>
              </a:rPr>
              <a:t>VALIDATION OF STUBBORNESS IMPACT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D838AB4D-5688-662A-DC48-8602FEAC1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3" y="-1"/>
            <a:ext cx="767571" cy="875072"/>
          </a:xfrm>
          <a:prstGeom prst="rect">
            <a:avLst/>
          </a:prstGeom>
        </p:spPr>
      </p:pic>
      <p:sp>
        <p:nvSpPr>
          <p:cNvPr id="17" name="CasellaDiTesto 15">
            <a:extLst>
              <a:ext uri="{FF2B5EF4-FFF2-40B4-BE49-F238E27FC236}">
                <a16:creationId xmlns:a16="http://schemas.microsoft.com/office/drawing/2014/main" id="{07EEF5A1-0A84-4282-D726-A04403C0D8DC}"/>
              </a:ext>
            </a:extLst>
          </p:cNvPr>
          <p:cNvSpPr txBox="1"/>
          <p:nvPr/>
        </p:nvSpPr>
        <p:spPr>
          <a:xfrm>
            <a:off x="925363" y="5505849"/>
            <a:ext cx="10845166" cy="5847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Average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number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of groups with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respect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to (a) group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bound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of confidence T with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different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stubborness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values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, and (b)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stubborness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Si with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different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bounds of confidence,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where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Ri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= 1, Ai = T, Ei = 0.6.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Averages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taken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over 50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runs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.</a:t>
            </a:r>
            <a:endParaRPr lang="it-IT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27A76D14-579B-1888-BF3F-9517421A5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970048"/>
              </p:ext>
            </p:extLst>
          </p:nvPr>
        </p:nvGraphicFramePr>
        <p:xfrm>
          <a:off x="766588" y="1215701"/>
          <a:ext cx="10845166" cy="3783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2583">
                  <a:extLst>
                    <a:ext uri="{9D8B030D-6E8A-4147-A177-3AD203B41FA5}">
                      <a16:colId xmlns:a16="http://schemas.microsoft.com/office/drawing/2014/main" val="3121561291"/>
                    </a:ext>
                  </a:extLst>
                </a:gridCol>
                <a:gridCol w="5422583">
                  <a:extLst>
                    <a:ext uri="{9D8B030D-6E8A-4147-A177-3AD203B41FA5}">
                      <a16:colId xmlns:a16="http://schemas.microsoft.com/office/drawing/2014/main" val="421032871"/>
                    </a:ext>
                  </a:extLst>
                </a:gridCol>
              </a:tblGrid>
              <a:tr h="3783331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787828"/>
                  </a:ext>
                </a:extLst>
              </a:tr>
            </a:tbl>
          </a:graphicData>
        </a:graphic>
      </p:graphicFrame>
      <p:pic>
        <p:nvPicPr>
          <p:cNvPr id="15" name="Immagine 14" descr="Immagine che contiene testo, schermat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9BFEC8CE-92E7-345C-B7F9-587447DCE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171" y="1215699"/>
            <a:ext cx="5422583" cy="3783331"/>
          </a:xfrm>
          <a:prstGeom prst="rect">
            <a:avLst/>
          </a:prstGeom>
        </p:spPr>
      </p:pic>
      <p:pic>
        <p:nvPicPr>
          <p:cNvPr id="14" name="Immagine 13" descr="Immagine che contiene testo, diagramma,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C45A2160-F469-CA19-14E7-CF9FFA459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588" y="1215700"/>
            <a:ext cx="5422583" cy="378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03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0C496-2133-F286-10BE-802B5D7B6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386459B5-36AC-9548-983D-6B3918BC5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99" y="1145630"/>
            <a:ext cx="6989347" cy="5159473"/>
          </a:xfr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850E86D-444B-2D81-A6DC-4ED57C9A13C5}"/>
              </a:ext>
            </a:extLst>
          </p:cNvPr>
          <p:cNvSpPr txBox="1"/>
          <p:nvPr/>
        </p:nvSpPr>
        <p:spPr>
          <a:xfrm>
            <a:off x="2959550" y="355323"/>
            <a:ext cx="726755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8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CONVERGENCE TIME VS STUBBORNESS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4B5EA7C-5C7A-FFEA-3AFE-E5F3DFC588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3" y="-1"/>
            <a:ext cx="767571" cy="875072"/>
          </a:xfrm>
          <a:prstGeom prst="rect">
            <a:avLst/>
          </a:prstGeom>
        </p:spPr>
      </p:pic>
      <p:pic>
        <p:nvPicPr>
          <p:cNvPr id="3" name="Immagine 2" descr="Immagine che contiene Carattere, testo, linea, calligrafia&#10;&#10;Il contenuto generato dall&amp;#39;IA potrebbe non essere corretto.">
            <a:extLst>
              <a:ext uri="{FF2B5EF4-FFF2-40B4-BE49-F238E27FC236}">
                <a16:creationId xmlns:a16="http://schemas.microsoft.com/office/drawing/2014/main" id="{BC9012D0-367A-77D5-1176-FB576A852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3871" y="1471474"/>
            <a:ext cx="4825261" cy="837287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1B6B90C2-73E7-0475-5A85-45AF307535B3}"/>
              </a:ext>
            </a:extLst>
          </p:cNvPr>
          <p:cNvSpPr txBox="1"/>
          <p:nvPr/>
        </p:nvSpPr>
        <p:spPr>
          <a:xfrm>
            <a:off x="7425888" y="2663132"/>
            <a:ext cx="4601226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Number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of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iterations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required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to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reach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the steady state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as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the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stubbornness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S1 of leader L1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varies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 in the range [0.8, 1.0] with a step of 0.01 and T = 0.2.</a:t>
            </a:r>
          </a:p>
          <a:p>
            <a:endParaRPr lang="it-IT" sz="1600">
              <a:solidFill>
                <a:srgbClr val="002060"/>
              </a:solidFill>
              <a:latin typeface="Times New Roman"/>
              <a:ea typeface="+mn-lt"/>
              <a:cs typeface="+mn-lt"/>
            </a:endParaRPr>
          </a:p>
          <a:p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The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reported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 plot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represents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 the scenario in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which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 the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stubbornness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 of leader L2 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is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fixed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 to 0.95,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while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 the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stubbornness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 of leader L1 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is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varied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 from 0.8 to 1 with a step of 0.01.</a:t>
            </a:r>
          </a:p>
          <a:p>
            <a:endParaRPr lang="it-IT" sz="160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The plot can be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divided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into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three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distinct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it-IT" sz="1600" err="1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regions</a:t>
            </a:r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:</a:t>
            </a:r>
          </a:p>
          <a:p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1) 0.8 &lt; S1 &lt; 0.9</a:t>
            </a:r>
          </a:p>
          <a:p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2) 0.9 &lt; S1 &lt; 0.95</a:t>
            </a:r>
          </a:p>
          <a:p>
            <a:r>
              <a:rPr lang="it-IT" sz="1600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3) 0.95 &lt; S1 &lt; 1.0</a:t>
            </a:r>
          </a:p>
          <a:p>
            <a:endParaRPr lang="it-IT" sz="160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57596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6A4C3-825F-0C3D-7A7E-E2913D755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101B6C08-C929-8EA9-20C5-381C95931B03}"/>
              </a:ext>
            </a:extLst>
          </p:cNvPr>
          <p:cNvSpPr txBox="1"/>
          <p:nvPr/>
        </p:nvSpPr>
        <p:spPr>
          <a:xfrm>
            <a:off x="1811324" y="269333"/>
            <a:ext cx="85693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8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VALIDATION OF APPEAL IMPACT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78BE5E3-2D4F-F43B-5B7F-56AF9CC12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3" y="-1"/>
            <a:ext cx="767571" cy="875072"/>
          </a:xfrm>
          <a:prstGeom prst="rect">
            <a:avLst/>
          </a:prstGeom>
        </p:spPr>
      </p:pic>
      <p:pic>
        <p:nvPicPr>
          <p:cNvPr id="26" name="Immagine 25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739B852E-92B1-53FC-A62E-F6F04CD713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61" y="2006437"/>
            <a:ext cx="4973985" cy="4071922"/>
          </a:xfrm>
          <a:prstGeom prst="rect">
            <a:avLst/>
          </a:prstGeom>
        </p:spPr>
      </p:pic>
      <p:pic>
        <p:nvPicPr>
          <p:cNvPr id="28" name="Immagine 27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7DDF702E-6332-379E-2C46-2D836B51FC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756" y="2092965"/>
            <a:ext cx="5083684" cy="3985394"/>
          </a:xfrm>
          <a:prstGeom prst="rect">
            <a:avLst/>
          </a:prstGeom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D7B4A3FB-FD20-3702-DBF2-6B9F0597D8A2}"/>
              </a:ext>
            </a:extLst>
          </p:cNvPr>
          <p:cNvSpPr txBox="1"/>
          <p:nvPr/>
        </p:nvSpPr>
        <p:spPr>
          <a:xfrm>
            <a:off x="1047261" y="882907"/>
            <a:ext cx="10212964" cy="84143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Fixed Extremeness (Ei) = 0.6 with leaders’ opinions L1 = 0.2 and L2 = 0.8. The analysis focused on simultaneous variation of both the leaders from 0.25 to 0.5 in steps of 0.01 and the group bound of confidence T from 0.05 to 0.5 in steps of  0.01, while Ri = 50 and Si = 1 (</a:t>
            </a:r>
            <a:r>
              <a:rPr lang="en-US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i</a:t>
            </a:r>
            <a:r>
              <a:rPr lang="en-US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= 1, 2).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 </a:t>
            </a:r>
            <a:endParaRPr lang="it-IT">
              <a:solidFill>
                <a:schemeClr val="accent1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19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20BA1-E271-662E-89CC-49780E411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1B314841-1F03-D536-38D1-C324418195F8}"/>
              </a:ext>
            </a:extLst>
          </p:cNvPr>
          <p:cNvSpPr txBox="1"/>
          <p:nvPr/>
        </p:nvSpPr>
        <p:spPr>
          <a:xfrm>
            <a:off x="1769571" y="331963"/>
            <a:ext cx="85693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800" b="1">
                <a:solidFill>
                  <a:srgbClr val="003576"/>
                </a:solidFill>
                <a:latin typeface="Times New Roman"/>
                <a:cs typeface="Times New Roman"/>
              </a:rPr>
              <a:t>VALIDATION OF APPEAL IMPACT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FBC9721A-B5B6-E676-872B-E4AF07BED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3" y="-1"/>
            <a:ext cx="767571" cy="87507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AFEBC400-42A0-E04E-8B34-A5A7C7E429C0}"/>
              </a:ext>
            </a:extLst>
          </p:cNvPr>
          <p:cNvSpPr txBox="1"/>
          <p:nvPr/>
        </p:nvSpPr>
        <p:spPr>
          <a:xfrm>
            <a:off x="1047261" y="788961"/>
            <a:ext cx="10004197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it-IT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The second </a:t>
            </a:r>
            <a:r>
              <a:rPr lang="it-IT" err="1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analysis</a:t>
            </a:r>
            <a:r>
              <a:rPr lang="it-IT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it-IT" err="1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is</a:t>
            </a:r>
            <a:r>
              <a:rPr lang="it-IT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it-IT" err="1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focused</a:t>
            </a:r>
            <a:r>
              <a:rPr lang="it-IT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 on the key </a:t>
            </a:r>
            <a:r>
              <a:rPr lang="it-IT" err="1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role</a:t>
            </a:r>
            <a:r>
              <a:rPr lang="it-IT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 of Appeal on </a:t>
            </a:r>
            <a:r>
              <a:rPr lang="it-IT" err="1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attracting</a:t>
            </a:r>
            <a:r>
              <a:rPr lang="it-IT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 follower </a:t>
            </a:r>
            <a:r>
              <a:rPr lang="it-IT" err="1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while</a:t>
            </a:r>
            <a:r>
              <a:rPr lang="it-IT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 the group </a:t>
            </a:r>
            <a:r>
              <a:rPr lang="it-IT" err="1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bound</a:t>
            </a:r>
            <a:r>
              <a:rPr lang="it-IT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 of confidence T </a:t>
            </a:r>
            <a:r>
              <a:rPr lang="it-IT" err="1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vary</a:t>
            </a:r>
            <a:r>
              <a:rPr lang="it-IT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 from 0.2 (1° image) to 0.4 (4° image) . </a:t>
            </a:r>
            <a:r>
              <a:rPr lang="it-IT" err="1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Moreover</a:t>
            </a:r>
            <a:r>
              <a:rPr lang="it-IT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, </a:t>
            </a:r>
            <a:r>
              <a:rPr lang="it-IT" err="1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we</a:t>
            </a:r>
            <a:r>
              <a:rPr lang="it-IT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it-IT" err="1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have</a:t>
            </a:r>
            <a:r>
              <a:rPr lang="it-IT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it-IT" err="1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introduced</a:t>
            </a:r>
            <a:r>
              <a:rPr lang="it-IT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 a </a:t>
            </a:r>
            <a:r>
              <a:rPr lang="en-US">
                <a:solidFill>
                  <a:srgbClr val="003576"/>
                </a:solidFill>
                <a:latin typeface="Times New Roman"/>
                <a:ea typeface="Calibri"/>
                <a:cs typeface="Times New Roman"/>
              </a:rPr>
              <a:t>fixed A2 = 0.4 and a variation of  A1 from 0.2 to 0.5 (in steps of 0.05).</a:t>
            </a:r>
            <a:endParaRPr lang="it-IT">
              <a:latin typeface="Times New Roman"/>
              <a:ea typeface="Calibri"/>
              <a:cs typeface="Times New Roman"/>
            </a:endParaRPr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13FF375B-5A95-1731-4D2A-7723AD5E9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922588"/>
              </p:ext>
            </p:extLst>
          </p:nvPr>
        </p:nvGraphicFramePr>
        <p:xfrm>
          <a:off x="2703941" y="1619957"/>
          <a:ext cx="6984776" cy="5031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388">
                  <a:extLst>
                    <a:ext uri="{9D8B030D-6E8A-4147-A177-3AD203B41FA5}">
                      <a16:colId xmlns:a16="http://schemas.microsoft.com/office/drawing/2014/main" val="556365187"/>
                    </a:ext>
                  </a:extLst>
                </a:gridCol>
                <a:gridCol w="3492388">
                  <a:extLst>
                    <a:ext uri="{9D8B030D-6E8A-4147-A177-3AD203B41FA5}">
                      <a16:colId xmlns:a16="http://schemas.microsoft.com/office/drawing/2014/main" val="425785852"/>
                    </a:ext>
                  </a:extLst>
                </a:gridCol>
              </a:tblGrid>
              <a:tr h="251567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538178"/>
                  </a:ext>
                </a:extLst>
              </a:tr>
              <a:tr h="251567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508281"/>
                  </a:ext>
                </a:extLst>
              </a:tr>
            </a:tbl>
          </a:graphicData>
        </a:graphic>
      </p:graphicFrame>
      <p:pic>
        <p:nvPicPr>
          <p:cNvPr id="34" name="Immagine 33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625A3C32-0B88-3107-C5E8-57225DAE5D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41" y="1619956"/>
            <a:ext cx="3501277" cy="2527751"/>
          </a:xfrm>
          <a:prstGeom prst="rect">
            <a:avLst/>
          </a:prstGeom>
        </p:spPr>
      </p:pic>
      <p:pic>
        <p:nvPicPr>
          <p:cNvPr id="36" name="Immagine 35" descr="Immagine che contiene testo, line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536C12EE-7019-89DD-BEF1-03F6020DD8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218" y="1619956"/>
            <a:ext cx="3483499" cy="2510834"/>
          </a:xfrm>
          <a:prstGeom prst="rect">
            <a:avLst/>
          </a:prstGeom>
        </p:spPr>
      </p:pic>
      <p:pic>
        <p:nvPicPr>
          <p:cNvPr id="38" name="Immagine 37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F2741CA5-61C9-F7E6-EC08-68B86E8B2A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41" y="4147707"/>
            <a:ext cx="3501277" cy="2533445"/>
          </a:xfrm>
          <a:prstGeom prst="rect">
            <a:avLst/>
          </a:prstGeom>
        </p:spPr>
      </p:pic>
      <p:pic>
        <p:nvPicPr>
          <p:cNvPr id="40" name="Immagine 39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19939FDD-C1FC-75FF-24EA-04AC69BFF6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330" y="4125710"/>
            <a:ext cx="3496093" cy="252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529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98B1B-C19B-3171-394E-C173B221C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CB9E0007-FB91-C9EE-43B7-F3172680BA3F}"/>
              </a:ext>
            </a:extLst>
          </p:cNvPr>
          <p:cNvSpPr txBox="1"/>
          <p:nvPr/>
        </p:nvSpPr>
        <p:spPr>
          <a:xfrm>
            <a:off x="2492661" y="352378"/>
            <a:ext cx="721140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800" b="1">
                <a:solidFill>
                  <a:srgbClr val="003576"/>
                </a:solidFill>
                <a:latin typeface="Times New Roman"/>
                <a:cs typeface="Times New Roman"/>
              </a:rPr>
              <a:t>VALIDATION OF STUBBORNESS IMPACT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CBEDD64-0EB9-EAE2-AAA3-7E21A7D46C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3" y="-1"/>
            <a:ext cx="767571" cy="875072"/>
          </a:xfrm>
          <a:prstGeom prst="rect">
            <a:avLst/>
          </a:prstGeom>
        </p:spPr>
      </p:pic>
      <p:sp>
        <p:nvSpPr>
          <p:cNvPr id="9" name="CasellaDiTesto 15">
            <a:extLst>
              <a:ext uri="{FF2B5EF4-FFF2-40B4-BE49-F238E27FC236}">
                <a16:creationId xmlns:a16="http://schemas.microsoft.com/office/drawing/2014/main" id="{4A46BF4B-CFAF-D740-481A-2A8BFC69516E}"/>
              </a:ext>
            </a:extLst>
          </p:cNvPr>
          <p:cNvSpPr txBox="1"/>
          <p:nvPr/>
        </p:nvSpPr>
        <p:spPr>
          <a:xfrm>
            <a:off x="1150373" y="5422701"/>
            <a:ext cx="9683881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Average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number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of followers of opinion leaders L1 and L2 with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respect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to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stubborness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of leader L1,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where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Ri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= 1, S2 = 0.95, Ai = T, Ei=0.6 and group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bound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of confidence T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is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(a) 0.2, (b) 0.25, (c) 0.30 and (d) 0.35.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Averages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taken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over 50 </a:t>
            </a:r>
            <a:r>
              <a:rPr lang="it-IT" sz="16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runs</a:t>
            </a:r>
            <a:r>
              <a:rPr lang="it-IT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.</a:t>
            </a:r>
            <a:endParaRPr lang="it-IT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565026C1-541D-6017-FD60-6E71168FC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975597"/>
              </p:ext>
            </p:extLst>
          </p:nvPr>
        </p:nvGraphicFramePr>
        <p:xfrm>
          <a:off x="673417" y="1350964"/>
          <a:ext cx="10845166" cy="3783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2583">
                  <a:extLst>
                    <a:ext uri="{9D8B030D-6E8A-4147-A177-3AD203B41FA5}">
                      <a16:colId xmlns:a16="http://schemas.microsoft.com/office/drawing/2014/main" val="3121561291"/>
                    </a:ext>
                  </a:extLst>
                </a:gridCol>
                <a:gridCol w="5422583">
                  <a:extLst>
                    <a:ext uri="{9D8B030D-6E8A-4147-A177-3AD203B41FA5}">
                      <a16:colId xmlns:a16="http://schemas.microsoft.com/office/drawing/2014/main" val="421032871"/>
                    </a:ext>
                  </a:extLst>
                </a:gridCol>
              </a:tblGrid>
              <a:tr h="3783331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787828"/>
                  </a:ext>
                </a:extLst>
              </a:tr>
            </a:tbl>
          </a:graphicData>
        </a:graphic>
      </p:graphicFrame>
      <p:pic>
        <p:nvPicPr>
          <p:cNvPr id="3" name="Immagine 2" descr="Immagine che contiene testo, diagramma, linea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0F544251-720C-118A-A6F4-8DF16485E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17" y="1350964"/>
            <a:ext cx="10845166" cy="378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515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13BE9-7FA4-647F-B23D-7D9EF434F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F4A1FFF1-07DB-3425-8BAD-48084124EE52}"/>
              </a:ext>
            </a:extLst>
          </p:cNvPr>
          <p:cNvSpPr txBox="1"/>
          <p:nvPr/>
        </p:nvSpPr>
        <p:spPr>
          <a:xfrm>
            <a:off x="1738256" y="269333"/>
            <a:ext cx="93313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ANALYSIS OF STUBBORNESS’ EFFECTS ON APPEAL</a:t>
            </a:r>
            <a:endParaRPr lang="it-IT" sz="2800" b="1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CD0ED36F-A829-6DF7-013D-CE6EC31A7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3" y="-1"/>
            <a:ext cx="767571" cy="87507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54F0DF8F-2C3A-2462-251B-2AC6718D07D1}"/>
              </a:ext>
            </a:extLst>
          </p:cNvPr>
          <p:cNvSpPr txBox="1"/>
          <p:nvPr/>
        </p:nvSpPr>
        <p:spPr>
          <a:xfrm>
            <a:off x="1047261" y="788961"/>
            <a:ext cx="10004197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6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To simulate this context the "stubbornness" constraint was relaxed for Leader 1 (TL1 = 0.2) whereas TL2 = 0. The objective was to create a scenario of a Flexible "Democratic“ Leader (L1) versus a Rigid Leader (L2) using a symmetric reputation (RL1=RL2=50)</a:t>
            </a:r>
            <a:endParaRPr lang="it-IT" sz="1600">
              <a:solidFill>
                <a:schemeClr val="accent1">
                  <a:lumMod val="49000"/>
                </a:schemeClr>
              </a:solidFill>
              <a:latin typeface="Times New Roman"/>
              <a:ea typeface="Calibri"/>
              <a:cs typeface="Times New Roman"/>
            </a:endParaRPr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A3D18C1C-FE8A-CA45-CB1E-18B0EA4D080A}"/>
              </a:ext>
            </a:extLst>
          </p:cNvPr>
          <p:cNvGraphicFramePr>
            <a:graphicFrameLocks noGrp="1"/>
          </p:cNvGraphicFramePr>
          <p:nvPr/>
        </p:nvGraphicFramePr>
        <p:xfrm>
          <a:off x="2703941" y="1619957"/>
          <a:ext cx="6984776" cy="5031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388">
                  <a:extLst>
                    <a:ext uri="{9D8B030D-6E8A-4147-A177-3AD203B41FA5}">
                      <a16:colId xmlns:a16="http://schemas.microsoft.com/office/drawing/2014/main" val="556365187"/>
                    </a:ext>
                  </a:extLst>
                </a:gridCol>
                <a:gridCol w="3492388">
                  <a:extLst>
                    <a:ext uri="{9D8B030D-6E8A-4147-A177-3AD203B41FA5}">
                      <a16:colId xmlns:a16="http://schemas.microsoft.com/office/drawing/2014/main" val="425785852"/>
                    </a:ext>
                  </a:extLst>
                </a:gridCol>
              </a:tblGrid>
              <a:tr h="251567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538178"/>
                  </a:ext>
                </a:extLst>
              </a:tr>
              <a:tr h="251567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508281"/>
                  </a:ext>
                </a:extLst>
              </a:tr>
            </a:tbl>
          </a:graphicData>
        </a:graphic>
      </p:graphicFrame>
      <p:pic>
        <p:nvPicPr>
          <p:cNvPr id="3" name="Immagine 2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366CA3AF-3589-3164-CB53-9B9E8DE7A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41" y="1619958"/>
            <a:ext cx="6984776" cy="2505002"/>
          </a:xfrm>
          <a:prstGeom prst="rect">
            <a:avLst/>
          </a:prstGeom>
        </p:spPr>
      </p:pic>
      <p:pic>
        <p:nvPicPr>
          <p:cNvPr id="5" name="Immagine 4" descr="Immagine che contiene testo, line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9B0E3824-1A43-34A3-C746-46B8D39D1B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41" y="4156962"/>
            <a:ext cx="6984776" cy="262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81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D7B6F8-76ED-D8EA-0B7C-2E4DFDD15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3647" y="369565"/>
            <a:ext cx="9144000" cy="505506"/>
          </a:xfrm>
        </p:spPr>
        <p:txBody>
          <a:bodyPr>
            <a:normAutofit/>
          </a:bodyPr>
          <a:lstStyle/>
          <a:p>
            <a:r>
              <a:rPr lang="it-IT" sz="2800" b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 Light"/>
                <a:cs typeface="Times New Roman"/>
              </a:rPr>
              <a:t>VALIDATION OF EXTREMENESS IMPACT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9053F88-7879-DBC7-1537-982B5459F4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640" y="1022111"/>
            <a:ext cx="12003360" cy="87507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According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with the paper of Chen et al.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we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simulated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a system of n = 200 agents with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two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competing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leaders, L1 and L2,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positioned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symmetrically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with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respect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to the center of the opinion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space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. The leaders’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extremeness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was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varied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from E = 0 to E = 1 ,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while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keeping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other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characteristics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it-IT" sz="180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constant</a:t>
            </a:r>
            <a:r>
              <a:rPr lang="it-IT" sz="1800">
                <a:solidFill>
                  <a:schemeClr val="accent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(R = 50 S = 1, A = 0.4).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754973A-194A-FCB5-DB5D-912DC6D99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3" y="-1"/>
            <a:ext cx="767571" cy="875072"/>
          </a:xfrm>
          <a:prstGeom prst="rect">
            <a:avLst/>
          </a:prstGeom>
        </p:spPr>
      </p:pic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D4E00D3E-0C89-CE3D-1D20-210D4CAF2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661960"/>
              </p:ext>
            </p:extLst>
          </p:nvPr>
        </p:nvGraphicFramePr>
        <p:xfrm>
          <a:off x="673417" y="1885950"/>
          <a:ext cx="10845166" cy="3783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2583">
                  <a:extLst>
                    <a:ext uri="{9D8B030D-6E8A-4147-A177-3AD203B41FA5}">
                      <a16:colId xmlns:a16="http://schemas.microsoft.com/office/drawing/2014/main" val="3121561291"/>
                    </a:ext>
                  </a:extLst>
                </a:gridCol>
                <a:gridCol w="5422583">
                  <a:extLst>
                    <a:ext uri="{9D8B030D-6E8A-4147-A177-3AD203B41FA5}">
                      <a16:colId xmlns:a16="http://schemas.microsoft.com/office/drawing/2014/main" val="421032871"/>
                    </a:ext>
                  </a:extLst>
                </a:gridCol>
              </a:tblGrid>
              <a:tr h="378333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787828"/>
                  </a:ext>
                </a:extLst>
              </a:tr>
            </a:tbl>
          </a:graphicData>
        </a:graphic>
      </p:graphicFrame>
      <p:pic>
        <p:nvPicPr>
          <p:cNvPr id="11" name="Immagine 10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1DDCAB98-731C-5A7C-87E6-9EE894FE0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16" y="1885948"/>
            <a:ext cx="5422583" cy="3783331"/>
          </a:xfrm>
          <a:prstGeom prst="rect">
            <a:avLst/>
          </a:prstGeom>
        </p:spPr>
      </p:pic>
      <p:pic>
        <p:nvPicPr>
          <p:cNvPr id="13" name="Immagine 12" descr="Immagine che contiene linea, Diagramm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E082C85D-E80D-6FDA-3257-E80BA35A32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885977"/>
            <a:ext cx="5422584" cy="3783331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AE3958A-0B96-0C08-EF5F-C30245E91AE1}"/>
              </a:ext>
            </a:extLst>
          </p:cNvPr>
          <p:cNvSpPr txBox="1"/>
          <p:nvPr/>
        </p:nvSpPr>
        <p:spPr>
          <a:xfrm>
            <a:off x="2410328" y="5981566"/>
            <a:ext cx="7362219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1600" i="1" err="1">
                <a:solidFill>
                  <a:srgbClr val="003576"/>
                </a:solidFill>
                <a:latin typeface="Times New Roman"/>
                <a:cs typeface="Times New Roman"/>
              </a:rPr>
              <a:t>These</a:t>
            </a:r>
            <a:r>
              <a:rPr lang="it-IT" sz="1600" i="1">
                <a:solidFill>
                  <a:srgbClr val="003576"/>
                </a:solidFill>
                <a:latin typeface="Times New Roman"/>
                <a:cs typeface="Times New Roman"/>
              </a:rPr>
              <a:t> pictures show the impact of leader </a:t>
            </a:r>
            <a:r>
              <a:rPr lang="it-IT" sz="1600" i="1" err="1">
                <a:solidFill>
                  <a:srgbClr val="003576"/>
                </a:solidFill>
                <a:latin typeface="Times New Roman"/>
                <a:cs typeface="Times New Roman"/>
              </a:rPr>
              <a:t>extremeness</a:t>
            </a:r>
            <a:r>
              <a:rPr lang="it-IT" sz="1600" i="1">
                <a:solidFill>
                  <a:srgbClr val="003576"/>
                </a:solidFill>
                <a:latin typeface="Times New Roman"/>
                <a:cs typeface="Times New Roman"/>
              </a:rPr>
              <a:t> on group </a:t>
            </a:r>
            <a:r>
              <a:rPr lang="it-IT" sz="1600" i="1" err="1">
                <a:solidFill>
                  <a:srgbClr val="003576"/>
                </a:solidFill>
                <a:latin typeface="Times New Roman"/>
                <a:cs typeface="Times New Roman"/>
              </a:rPr>
              <a:t>fragmentation</a:t>
            </a:r>
            <a:endParaRPr lang="it-IT" sz="1600" i="1">
              <a:solidFill>
                <a:srgbClr val="003576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4656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87FF3-DB54-3A17-90B5-151EDC320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1C90D60-BD0A-7E6E-1CB9-322B7DF24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3" y="-1"/>
            <a:ext cx="767571" cy="875072"/>
          </a:xfrm>
          <a:prstGeom prst="rect">
            <a:avLst/>
          </a:prstGeom>
        </p:spPr>
      </p:pic>
      <p:pic>
        <p:nvPicPr>
          <p:cNvPr id="6" name="Immagine 5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009696B6-206E-CFEA-2A8A-B624CEA75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743" y="1044510"/>
            <a:ext cx="7536510" cy="5039473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540601E-8BFF-B333-F6BA-D5FAC0B87DCC}"/>
              </a:ext>
            </a:extLst>
          </p:cNvPr>
          <p:cNvSpPr txBox="1"/>
          <p:nvPr/>
        </p:nvSpPr>
        <p:spPr>
          <a:xfrm>
            <a:off x="911490" y="6253422"/>
            <a:ext cx="10369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it-IT" sz="1600" i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pictures show the </a:t>
            </a:r>
            <a:r>
              <a:rPr lang="it-IT" sz="1600" i="1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it-IT" sz="1600" i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it-IT" sz="1600" i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followers  for Leader 1 and Leader 2 </a:t>
            </a:r>
            <a:r>
              <a:rPr lang="it-IT" sz="1600" i="1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1600" i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it-IT" sz="1600" i="1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it-IT" sz="1600" i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E1, with E2 </a:t>
            </a:r>
            <a:r>
              <a:rPr lang="it-IT" sz="1600" i="1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it-IT" sz="1600" i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it-IT" sz="1600" i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0.6</a:t>
            </a:r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ED70B9DE-85B2-4ACF-4302-F43C22C0D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9565"/>
            <a:ext cx="9144000" cy="505506"/>
          </a:xfrm>
        </p:spPr>
        <p:txBody>
          <a:bodyPr>
            <a:normAutofit/>
          </a:bodyPr>
          <a:lstStyle/>
          <a:p>
            <a:r>
              <a:rPr lang="it-IT" sz="2800" b="1">
                <a:solidFill>
                  <a:srgbClr val="003576"/>
                </a:solidFill>
                <a:latin typeface="Times New Roman"/>
                <a:ea typeface="Calibri Light"/>
                <a:cs typeface="Times New Roman"/>
              </a:rPr>
              <a:t>VALIDATION OF EXTREMENESS IMPACT</a:t>
            </a:r>
          </a:p>
        </p:txBody>
      </p:sp>
    </p:spTree>
    <p:extLst>
      <p:ext uri="{BB962C8B-B14F-4D97-AF65-F5344CB8AC3E}">
        <p14:creationId xmlns:p14="http://schemas.microsoft.com/office/powerpoint/2010/main" val="2624076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75DD-895D-07A2-C482-759A4816C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DA84FF-EFAE-9706-0B2F-B87B2B5B3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4975" y="365760"/>
            <a:ext cx="8782050" cy="509311"/>
          </a:xfrm>
        </p:spPr>
        <p:txBody>
          <a:bodyPr>
            <a:normAutofit/>
          </a:bodyPr>
          <a:lstStyle/>
          <a:p>
            <a:r>
              <a:rPr lang="it-IT" sz="2400" b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ASYMMETRIC LEADERSHIP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DD82F84-E5E4-ADB7-EC96-085AA2B2E5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  <a:p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DE61288-7489-3C7B-4EEE-9EC66F77E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3" y="-1"/>
            <a:ext cx="767571" cy="875072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5E2B25D-4FB0-FDC5-CEE4-38F5DC780AB0}"/>
              </a:ext>
            </a:extLst>
          </p:cNvPr>
          <p:cNvSpPr txBox="1"/>
          <p:nvPr/>
        </p:nvSpPr>
        <p:spPr>
          <a:xfrm>
            <a:off x="673417" y="1061591"/>
            <a:ext cx="80886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it-IT" sz="1600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it-IT" sz="1600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r>
              <a:rPr lang="it-IT" sz="1600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1600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it-IT" sz="1600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simulate a scenario </a:t>
            </a:r>
            <a:r>
              <a:rPr lang="it-IT" sz="1600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often</a:t>
            </a:r>
            <a:r>
              <a:rPr lang="it-IT" sz="1600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observed</a:t>
            </a:r>
            <a:r>
              <a:rPr lang="it-IT" sz="1600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it-IT" sz="1600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political</a:t>
            </a:r>
            <a:r>
              <a:rPr lang="it-IT" sz="1600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dynamics: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Leader 1 ("The </a:t>
            </a:r>
            <a:r>
              <a:rPr lang="it-IT" sz="1600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Populist</a:t>
            </a:r>
            <a:r>
              <a:rPr lang="it-IT" sz="1600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"): Low </a:t>
            </a:r>
            <a:r>
              <a:rPr lang="it-IT" sz="1600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Reputation</a:t>
            </a:r>
            <a:r>
              <a:rPr lang="it-IT" sz="1600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(R1 = 10) </a:t>
            </a:r>
            <a:r>
              <a:rPr lang="it-IT" sz="1600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it-IT" sz="1600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High Appeal (A1 = 0.6).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Leader 2 ("The Institution"): High </a:t>
            </a:r>
            <a:r>
              <a:rPr lang="it-IT" sz="1600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Reputation</a:t>
            </a:r>
            <a:r>
              <a:rPr lang="it-IT" sz="1600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(R2 = 100) </a:t>
            </a:r>
            <a:r>
              <a:rPr lang="it-IT" sz="1600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it-IT" sz="1600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Low Appeal (A2 = 0.2). </a:t>
            </a:r>
          </a:p>
          <a:p>
            <a:r>
              <a:rPr lang="it-IT" sz="1600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it-IT" sz="1600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it-IT" sz="1600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E2 = 0.6 and </a:t>
            </a:r>
            <a:r>
              <a:rPr lang="it-IT" sz="1600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varied</a:t>
            </a:r>
            <a:r>
              <a:rPr lang="it-IT" sz="1600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(E1) from 0 to 1.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E6E921A-A202-E5F9-2B77-B5CA5656058F}"/>
              </a:ext>
            </a:extLst>
          </p:cNvPr>
          <p:cNvSpPr txBox="1"/>
          <p:nvPr/>
        </p:nvSpPr>
        <p:spPr>
          <a:xfrm>
            <a:off x="3048953" y="2828836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/>
              <a:t> </a:t>
            </a:r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E8CFFEE1-F6EA-29E9-03D5-2B632F9AA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905288"/>
              </p:ext>
            </p:extLst>
          </p:nvPr>
        </p:nvGraphicFramePr>
        <p:xfrm>
          <a:off x="673417" y="2278597"/>
          <a:ext cx="10845166" cy="3783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2583">
                  <a:extLst>
                    <a:ext uri="{9D8B030D-6E8A-4147-A177-3AD203B41FA5}">
                      <a16:colId xmlns:a16="http://schemas.microsoft.com/office/drawing/2014/main" val="3121561291"/>
                    </a:ext>
                  </a:extLst>
                </a:gridCol>
                <a:gridCol w="5422583">
                  <a:extLst>
                    <a:ext uri="{9D8B030D-6E8A-4147-A177-3AD203B41FA5}">
                      <a16:colId xmlns:a16="http://schemas.microsoft.com/office/drawing/2014/main" val="421032871"/>
                    </a:ext>
                  </a:extLst>
                </a:gridCol>
              </a:tblGrid>
              <a:tr h="3783331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787828"/>
                  </a:ext>
                </a:extLst>
              </a:tr>
            </a:tbl>
          </a:graphicData>
        </a:graphic>
      </p:graphicFrame>
      <p:pic>
        <p:nvPicPr>
          <p:cNvPr id="13" name="Immagine 12" descr="Immagine che contiene linea, Diagramm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B124003D-D6D5-95F9-6DE8-9C66AA083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17" y="2278596"/>
            <a:ext cx="5396388" cy="3783331"/>
          </a:xfrm>
          <a:prstGeom prst="rect">
            <a:avLst/>
          </a:prstGeom>
        </p:spPr>
      </p:pic>
      <p:pic>
        <p:nvPicPr>
          <p:cNvPr id="15" name="Immagine 14" descr="Immagine che contiene linea, Diagramm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F0B9AC1E-6D81-A4CD-4162-01247DDFF0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805" y="2278596"/>
            <a:ext cx="5611655" cy="3783331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63709C4-FDDF-F06E-8BB7-9AF0A198CF9F}"/>
              </a:ext>
            </a:extLst>
          </p:cNvPr>
          <p:cNvSpPr txBox="1"/>
          <p:nvPr/>
        </p:nvSpPr>
        <p:spPr>
          <a:xfrm>
            <a:off x="3209064" y="6273612"/>
            <a:ext cx="5721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</a:t>
            </a:r>
            <a:r>
              <a:rPr lang="it-IT" i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it-IT" i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it-IT" i="1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Asymmetric</a:t>
            </a:r>
            <a:r>
              <a:rPr lang="it-IT" i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Scenario</a:t>
            </a:r>
          </a:p>
        </p:txBody>
      </p:sp>
    </p:spTree>
    <p:extLst>
      <p:ext uri="{BB962C8B-B14F-4D97-AF65-F5344CB8AC3E}">
        <p14:creationId xmlns:p14="http://schemas.microsoft.com/office/powerpoint/2010/main" val="3155037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061F2-A450-3C3E-16F8-6D5F22965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8254747E-60FC-25AE-D785-3F856BC3C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3964" y="6210508"/>
            <a:ext cx="4627418" cy="467383"/>
          </a:xfrm>
        </p:spPr>
        <p:txBody>
          <a:bodyPr>
            <a:noAutofit/>
          </a:bodyPr>
          <a:lstStyle/>
          <a:p>
            <a:pPr algn="l"/>
            <a:r>
              <a:rPr lang="it-IT" sz="1800" i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Follower </a:t>
            </a:r>
            <a:r>
              <a:rPr lang="it-IT" sz="1800" i="1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counts</a:t>
            </a:r>
            <a:r>
              <a:rPr lang="it-IT" sz="1800" i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it-IT" sz="1800" i="1" err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Asymmetric</a:t>
            </a:r>
            <a:r>
              <a:rPr lang="it-IT" sz="1800" i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Scenario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0833130-87D1-FAF5-78B8-3A6FD15EB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3" y="-1"/>
            <a:ext cx="767571" cy="875072"/>
          </a:xfrm>
          <a:prstGeom prst="rect">
            <a:avLst/>
          </a:prstGeom>
        </p:spPr>
      </p:pic>
      <p:pic>
        <p:nvPicPr>
          <p:cNvPr id="8" name="Immagine 7" descr="Immagine che contiene testo, diagramma, linea, numero&#10;&#10;Il contenuto generato dall'IA potrebbe non essere corretto.">
            <a:extLst>
              <a:ext uri="{FF2B5EF4-FFF2-40B4-BE49-F238E27FC236}">
                <a16:creationId xmlns:a16="http://schemas.microsoft.com/office/drawing/2014/main" id="{535E7383-9102-E0E6-BBB8-90807722CB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473" y="978944"/>
            <a:ext cx="7772400" cy="5127691"/>
          </a:xfrm>
          <a:prstGeom prst="rect">
            <a:avLst/>
          </a:prstGeom>
        </p:spPr>
      </p:pic>
      <p:sp>
        <p:nvSpPr>
          <p:cNvPr id="9" name="Titolo 1">
            <a:extLst>
              <a:ext uri="{FF2B5EF4-FFF2-40B4-BE49-F238E27FC236}">
                <a16:creationId xmlns:a16="http://schemas.microsoft.com/office/drawing/2014/main" id="{9955317C-C6C4-8DD9-55E3-D963885ED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4975" y="365760"/>
            <a:ext cx="8782050" cy="509311"/>
          </a:xfrm>
        </p:spPr>
        <p:txBody>
          <a:bodyPr>
            <a:normAutofit/>
          </a:bodyPr>
          <a:lstStyle/>
          <a:p>
            <a:r>
              <a:rPr lang="it-IT" sz="2400" b="1">
                <a:solidFill>
                  <a:srgbClr val="0035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ASYMMETRIC LEADERSHIP</a:t>
            </a:r>
          </a:p>
        </p:txBody>
      </p:sp>
    </p:spTree>
    <p:extLst>
      <p:ext uri="{BB962C8B-B14F-4D97-AF65-F5344CB8AC3E}">
        <p14:creationId xmlns:p14="http://schemas.microsoft.com/office/powerpoint/2010/main" val="27747009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22AB660838AA41A34206E86CC0EEB0" ma:contentTypeVersion="5" ma:contentTypeDescription="Creare un nuovo documento." ma:contentTypeScope="" ma:versionID="f072427f12ae552cc6cca46605fff7bb">
  <xsd:schema xmlns:xsd="http://www.w3.org/2001/XMLSchema" xmlns:xs="http://www.w3.org/2001/XMLSchema" xmlns:p="http://schemas.microsoft.com/office/2006/metadata/properties" xmlns:ns3="9700d8b3-a884-4083-b668-69a086ea85d5" targetNamespace="http://schemas.microsoft.com/office/2006/metadata/properties" ma:root="true" ma:fieldsID="e8ebbba665fb442c2531273c2211d214" ns3:_="">
    <xsd:import namespace="9700d8b3-a884-4083-b668-69a086ea85d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0d8b3-a884-4083-b668-69a086ea85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700d8b3-a884-4083-b668-69a086ea85d5" xsi:nil="true"/>
  </documentManagement>
</p:properties>
</file>

<file path=customXml/itemProps1.xml><?xml version="1.0" encoding="utf-8"?>
<ds:datastoreItem xmlns:ds="http://schemas.openxmlformats.org/officeDocument/2006/customXml" ds:itemID="{ECBD27A8-9FA8-460B-9A94-5BD7BD1009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C75186-0D7B-485C-9D14-AE3B61A4CF09}">
  <ds:schemaRefs>
    <ds:schemaRef ds:uri="9700d8b3-a884-4083-b668-69a086ea85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2F5F6A7-EC2B-4522-92C8-14FFB9B944D9}">
  <ds:schemaRefs>
    <ds:schemaRef ds:uri="9700d8b3-a884-4083-b668-69a086ea85d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17" baseType="lpstr">
      <vt:lpstr>Tema di Office</vt:lpstr>
      <vt:lpstr>Presentazione standard di PowerPoint</vt:lpstr>
      <vt:lpstr>Presentazione standard di PowerPoint</vt:lpstr>
      <vt:lpstr>CHARACTERISTICS OF OPINION LEADERS</vt:lpstr>
      <vt:lpstr>IMPACT OF GROUP BOUND OF CONFIDENCE</vt:lpstr>
      <vt:lpstr>VALIDATION OF REPUTATION IMPACT</vt:lpstr>
      <vt:lpstr>Presentazione standard di PowerPoint</vt:lpstr>
      <vt:lpstr>            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VALIDATION OF EXTREMENESS IMPACT</vt:lpstr>
      <vt:lpstr>VALIDATION OF EXTREMENESS IMPACT</vt:lpstr>
      <vt:lpstr>ASYMMETRIC LEADERSHIP</vt:lpstr>
      <vt:lpstr>ASYMMETRIC LEADERSHIP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MESSA CESARE</dc:creator>
  <cp:revision>4</cp:revision>
  <dcterms:created xsi:type="dcterms:W3CDTF">2026-01-07T16:00:03Z</dcterms:created>
  <dcterms:modified xsi:type="dcterms:W3CDTF">2026-01-07T22:18:14Z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0x010100FF22AB660838AA41A34206E86CC0EEB0</vt:lpwstr>
  </property>
</Properties>
</file>